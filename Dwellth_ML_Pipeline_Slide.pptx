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Two-Stage ML Pipeline: Unsupervised Clustering &amp; Supervised Valuation</a:t>
            </a:r>
          </a:p>
          <a:p>
            <a:pPr>
              <a:defRPr sz="1300">
                <a:solidFill>
                  <a:srgbClr val="2DD4BF"/>
                </a:solidFill>
                <a:latin typeface="Segoe UI"/>
              </a:defRPr>
            </a:pPr>
            <a:r>
              <a:t>Dwellth Apartment Recommender Engine — Combining Lifestyle Profiles, Stacking Regressors, &amp; Value Heuristics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3611880" cy="4937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97096" y="1463040"/>
            <a:ext cx="3611880" cy="4937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8432" y="1463040"/>
            <a:ext cx="3611880" cy="4937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2461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LIFESTYLE CLUSTERING (K-MEANS)</a:t>
            </a:r>
          </a:p>
          <a:p>
            <a:pPr>
              <a:spcAft>
                <a:spcPts val="800"/>
              </a:spcAft>
              <a:defRPr sz="850" b="1">
                <a:solidFill>
                  <a:srgbClr val="2DD4BF"/>
                </a:solidFill>
                <a:latin typeface="Segoe UI"/>
              </a:defRPr>
            </a:pPr>
            <a:r>
              <a:t>UNSUPERVISED STAGE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DATA SPLIT &amp; PREP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Dataset Size: </a:t>
            </a:r>
            <a:r>
              <a:rPr b="0">
                <a:solidFill>
                  <a:srgbClr val="9CA3AF"/>
                </a:solidFill>
              </a:rPr>
              <a:t>100K classified US rental listings.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Train/Test Split: </a:t>
            </a:r>
            <a:r>
              <a:rPr b="0">
                <a:solidFill>
                  <a:srgbClr val="9CA3AF"/>
                </a:solidFill>
              </a:rPr>
              <a:t>80/20 division (80K train, 20K unseen test).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Preprocessing: </a:t>
            </a:r>
            <a:r>
              <a:rPr b="0">
                <a:solidFill>
                  <a:srgbClr val="9CA3AF"/>
                </a:solidFill>
              </a:rPr>
              <a:t>SimpleImputer (median) + StandardScaler pipeline.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FEATURE ENGINEERING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Amenities Count: </a:t>
            </a:r>
            <a:r>
              <a:rPr b="0">
                <a:solidFill>
                  <a:srgbClr val="9CA3AF"/>
                </a:solidFill>
              </a:rPr>
              <a:t>Extracted number of amenities from raw text list.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Pets Allowed Bin: </a:t>
            </a:r>
            <a:r>
              <a:rPr b="0">
                <a:solidFill>
                  <a:srgbClr val="9CA3AF"/>
                </a:solidFill>
              </a:rPr>
              <a:t>Binarized pets allowance (1 = allowed, 0 = no/none).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Features Used: </a:t>
            </a:r>
            <a:r>
              <a:rPr b="0">
                <a:solidFill>
                  <a:srgbClr val="9CA3AF"/>
                </a:solidFill>
              </a:rPr>
              <a:t>7 cols: Size, Bed, Bath, Amenities, Pets, Lat, Long.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LIFESTYLE CLUSTERING (K-MEANS)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Cluster Selection: </a:t>
            </a:r>
            <a:r>
              <a:rPr b="0">
                <a:solidFill>
                  <a:srgbClr val="9CA3AF"/>
                </a:solidFill>
              </a:rPr>
              <a:t>Optimized K=4 using Silhouette and Elbow (Inertia) curves.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Profiling: </a:t>
            </a:r>
            <a:r>
              <a:rPr b="0">
                <a:solidFill>
                  <a:srgbClr val="9CA3AF"/>
                </a:solidFill>
              </a:rPr>
              <a:t>Groups listings into lifestyle segments (e.g., Cozy Standard, Spacious Suite).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Visualization: </a:t>
            </a:r>
            <a:r>
              <a:rPr b="0">
                <a:solidFill>
                  <a:srgbClr val="9CA3AF"/>
                </a:solidFill>
              </a:rPr>
              <a:t>2D Principal Component Analysis (PCA) used to verify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9976" y="1645920"/>
            <a:ext cx="32461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RENT PREDICTION &amp; DEALS (STACKING)</a:t>
            </a:r>
          </a:p>
          <a:p>
            <a:pPr>
              <a:spcAft>
                <a:spcPts val="800"/>
              </a:spcAft>
              <a:defRPr sz="850" b="1">
                <a:solidFill>
                  <a:srgbClr val="2DD4BF"/>
                </a:solidFill>
                <a:latin typeface="Segoe UI"/>
              </a:defRPr>
            </a:pPr>
            <a:r>
              <a:t>SUPERVISED STAGE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SUPERVISED STACKING ENSEMBLE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Level-0 Base: </a:t>
            </a:r>
            <a:r>
              <a:rPr b="0">
                <a:solidFill>
                  <a:srgbClr val="9CA3AF"/>
                </a:solidFill>
              </a:rPr>
              <a:t>RandomForestRegressor + GradientBoostingRegressor (100 trees each).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Level-1 Meta-Model: </a:t>
            </a:r>
            <a:r>
              <a:rPr b="0">
                <a:solidFill>
                  <a:srgbClr val="9CA3AF"/>
                </a:solidFill>
              </a:rPr>
              <a:t>Ridge Regression combines estimators to prevent overfitting.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Cross-Validation: </a:t>
            </a:r>
            <a:r>
              <a:rPr b="0">
                <a:solidFill>
                  <a:srgbClr val="9CA3AF"/>
                </a:solidFill>
              </a:rPr>
              <a:t>Rigorous 5-fold CV on train data to fit the meta-estimator.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Target: </a:t>
            </a:r>
            <a:r>
              <a:rPr b="0">
                <a:solidFill>
                  <a:srgbClr val="9CA3AF"/>
                </a:solidFill>
              </a:rPr>
              <a:t>Predicts Fair Market Value (FMV) based on scaled features.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HIGH-VALUE DEAL HEURISTIC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Concept: </a:t>
            </a:r>
            <a:r>
              <a:rPr b="0">
                <a:solidFill>
                  <a:srgbClr val="9CA3AF"/>
                </a:solidFill>
              </a:rPr>
              <a:t>Identifies underpriced gems where actual rent is below market value.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Formula: </a:t>
            </a:r>
            <a:r>
              <a:rPr b="0">
                <a:solidFill>
                  <a:srgbClr val="9CA3AF"/>
                </a:solidFill>
              </a:rPr>
              <a:t>Discount % = ((Predicted Price - Actual Price) / Predicted Price) * 100.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Threshold: </a:t>
            </a:r>
            <a:r>
              <a:rPr b="0">
                <a:solidFill>
                  <a:srgbClr val="9CA3AF"/>
                </a:solidFill>
              </a:rPr>
              <a:t>Flagged as 'High-Value Deal' if actual price is &gt;= 15% cheaper than FMV.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Yield: </a:t>
            </a:r>
            <a:r>
              <a:rPr b="0">
                <a:solidFill>
                  <a:srgbClr val="9CA3AF"/>
                </a:solidFill>
              </a:rPr>
              <a:t>Flagged ~12.2% of listings as genuine market deals in test evaluations.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1312" y="1645920"/>
            <a:ext cx="32461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RECOMMENDATION ENGINE &amp; PERFORMANCE</a:t>
            </a:r>
          </a:p>
          <a:p>
            <a:pPr>
              <a:spcAft>
                <a:spcPts val="800"/>
              </a:spcAft>
              <a:defRPr sz="850" b="1">
                <a:solidFill>
                  <a:srgbClr val="2DD4BF"/>
                </a:solidFill>
                <a:latin typeface="Segoe UI"/>
              </a:defRPr>
            </a:pPr>
            <a:r>
              <a:t>MATCHING STAGE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MODEL COMPARISON (VALIDATION)</a:t>
            </a:r>
          </a:p>
          <a:p>
            <a:pPr>
              <a:spcAft>
                <a:spcPts val="10500"/>
              </a:spcAft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RECOMMENDATION LOGIC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Step 1: Lifestyle Filter: </a:t>
            </a:r>
            <a:r>
              <a:rPr b="0">
                <a:solidFill>
                  <a:srgbClr val="9CA3AF"/>
                </a:solidFill>
              </a:rPr>
              <a:t>Locks user to their predicted K-Means cluster &amp; budget.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Step 2: Cosine Similarity: </a:t>
            </a:r>
            <a:r>
              <a:rPr b="0">
                <a:solidFill>
                  <a:srgbClr val="9CA3AF"/>
                </a:solidFill>
              </a:rPr>
              <a:t>Calculates similarity in 7D scaled space vs candidate units.</a:t>
            </a:r>
          </a:p>
          <a:p>
            <a:pPr>
              <a:spcAft>
                <a:spcPts val="300"/>
              </a:spcAft>
              <a:defRPr sz="9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 Step 3: Ranked Sort: </a:t>
            </a:r>
            <a:r>
              <a:rPr b="0">
                <a:solidFill>
                  <a:srgbClr val="9CA3AF"/>
                </a:solidFill>
              </a:rPr>
              <a:t>Promotes 'High-Value Deals' to the top, ordered by Cosine Similarity.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138160" y="2468880"/>
          <a:ext cx="33375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594360"/>
                <a:gridCol w="548640"/>
                <a:gridCol w="594360"/>
                <a:gridCol w="54864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CV MAE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CV R²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Baseline (LR)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$501.40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0.1604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$499.28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0.2175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Stacking (Ens)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$179.08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0.7624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$175.37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0.7510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